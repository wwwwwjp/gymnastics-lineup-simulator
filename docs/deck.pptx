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292" r:id="rId5"/>
    <p:sldId id="299" r:id="rId7"/>
    <p:sldId id="340" r:id="rId8"/>
    <p:sldId id="312" r:id="rId9"/>
    <p:sldId id="341" r:id="rId10"/>
    <p:sldId id="343" r:id="rId11"/>
    <p:sldId id="336" r:id="rId12"/>
    <p:sldId id="337" r:id="rId13"/>
    <p:sldId id="297" r:id="rId14"/>
    <p:sldId id="335" r:id="rId15"/>
    <p:sldId id="298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719"/>
  </p:normalViewPr>
  <p:slideViewPr>
    <p:cSldViewPr snapToGrid="0">
      <p:cViewPr varScale="1">
        <p:scale>
          <a:sx n="149" d="100"/>
          <a:sy n="149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9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87419-2489-47EC-8D06-CF30DE3709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012C5-AFC2-4539-8A23-47BB992CEC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851888" y="3218871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52523" y="905691"/>
            <a:ext cx="8334246" cy="2106570"/>
          </a:xfrm>
        </p:spPr>
        <p:txBody>
          <a:bodyPr bIns="0" anchor="b">
            <a:normAutofit/>
          </a:bodyPr>
          <a:lstStyle>
            <a:lvl1pPr marL="0" indent="0" algn="l">
              <a:buNone/>
              <a:defRPr sz="4000" b="1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Presentation Title in title or sentence case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5733906"/>
            <a:ext cx="12192000" cy="11240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851889" y="3519488"/>
            <a:ext cx="8334246" cy="701877"/>
          </a:xfrm>
        </p:spPr>
        <p:txBody>
          <a:bodyPr anchor="t"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subtitle, date or other important information, not to exceed two lines </a:t>
            </a:r>
            <a:endParaRPr lang="en-US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851889" y="5953913"/>
            <a:ext cx="10311412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57339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851888" y="3218871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52523" y="905691"/>
            <a:ext cx="8334246" cy="2106570"/>
          </a:xfrm>
        </p:spPr>
        <p:txBody>
          <a:bodyPr bIns="0" anchor="b">
            <a:normAutofit/>
          </a:bodyPr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Presentation Title in title or sentence case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851889" y="3519488"/>
            <a:ext cx="8334246" cy="701877"/>
          </a:xfrm>
        </p:spPr>
        <p:txBody>
          <a:bodyPr anchor="t"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subtitle, date or other important information, not to exceed two lines </a:t>
            </a:r>
            <a:endParaRPr lang="en-US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851889" y="5953913"/>
            <a:ext cx="10311412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1506200" y="9797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63459" y="232022"/>
            <a:ext cx="456122" cy="716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495300" y="1625704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95300" y="457200"/>
            <a:ext cx="10668000" cy="1066800"/>
          </a:xfrm>
        </p:spPr>
        <p:txBody>
          <a:bodyPr bIns="0" anchor="b" anchorCtr="0">
            <a:normAutofit/>
          </a:bodyPr>
          <a:lstStyle>
            <a:lvl1pPr marL="0" indent="0">
              <a:buNone/>
              <a:defRPr sz="3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/>
            <a:r>
              <a:rPr lang="en-US" dirty="0"/>
              <a:t>Insert slide title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1485900" y="1840447"/>
            <a:ext cx="9677400" cy="4446053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98902"/>
            <a:ext cx="6345327" cy="350865"/>
          </a:xfrm>
          <a:solidFill>
            <a:schemeClr val="accent1"/>
          </a:solidFill>
          <a:ln>
            <a:noFill/>
          </a:ln>
        </p:spPr>
        <p:txBody>
          <a:bodyPr wrap="none" lIns="274320" tIns="64008" rIns="9144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495300" y="1625704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95300" y="457200"/>
            <a:ext cx="10668000" cy="1066800"/>
          </a:xfrm>
        </p:spPr>
        <p:txBody>
          <a:bodyPr bIns="0" anchor="b" anchorCtr="0">
            <a:normAutofit/>
          </a:bodyPr>
          <a:lstStyle>
            <a:lvl1pPr marL="0" indent="0">
              <a:buNone/>
              <a:defRPr sz="3400" b="1"/>
            </a:lvl1pPr>
            <a:lvl2pPr>
              <a:defRPr sz="3200" b="1"/>
            </a:lvl2pPr>
            <a:lvl3pPr>
              <a:defRPr sz="3200" b="1"/>
            </a:lvl3pPr>
            <a:lvl4pPr>
              <a:defRPr sz="3200" b="1"/>
            </a:lvl4pPr>
            <a:lvl5pPr>
              <a:defRPr sz="3200" b="1"/>
            </a:lvl5pPr>
          </a:lstStyle>
          <a:p>
            <a:pPr lvl="0"/>
            <a:r>
              <a:rPr lang="en-US" dirty="0"/>
              <a:t>Insert slide title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1485900" y="1840447"/>
            <a:ext cx="4482548" cy="4446053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98902"/>
            <a:ext cx="6345327" cy="350865"/>
          </a:xfrm>
          <a:solidFill>
            <a:schemeClr val="accent1"/>
          </a:solidFill>
          <a:ln>
            <a:noFill/>
          </a:ln>
        </p:spPr>
        <p:txBody>
          <a:bodyPr wrap="none" lIns="274320" tIns="64008" rIns="9144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  <a:endParaRPr lang="en-US" dirty="0"/>
          </a:p>
        </p:txBody>
      </p:sp>
      <p:sp>
        <p:nvSpPr>
          <p:cNvPr id="8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6223554" y="1840447"/>
            <a:ext cx="4939746" cy="4446053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1024128"/>
            <a:ext cx="11163300" cy="5825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485900" y="2514600"/>
            <a:ext cx="8279202" cy="1367286"/>
          </a:xfrm>
        </p:spPr>
        <p:txBody>
          <a:bodyPr bIns="0" anchor="b" anchorCtr="0"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Insert Section Header Title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4226928"/>
            <a:ext cx="5264150" cy="354459"/>
          </a:xfrm>
        </p:spPr>
        <p:txBody>
          <a:bodyPr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Insert subtitle if needed</a:t>
            </a:r>
            <a:endParaRPr lang="en-US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8714232" y="1024128"/>
            <a:ext cx="2449068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1485900" y="4007404"/>
            <a:ext cx="471523" cy="94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1024128"/>
            <a:ext cx="11163300" cy="5833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485900" y="2514600"/>
            <a:ext cx="8279202" cy="1367286"/>
          </a:xfrm>
        </p:spPr>
        <p:txBody>
          <a:bodyPr bIns="0" anchor="b" anchorCtr="0"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Insert Section Header Title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4226928"/>
            <a:ext cx="5264150" cy="354459"/>
          </a:xfrm>
        </p:spPr>
        <p:txBody>
          <a:bodyPr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Insert subtitle if needed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1485900" y="4007404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 userDrawn="1"/>
        </p:nvSpPr>
        <p:spPr>
          <a:xfrm>
            <a:off x="8714232" y="1024128"/>
            <a:ext cx="2449068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tx1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57200"/>
            <a:ext cx="10668000" cy="1066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W–Madison logo in white text on a red backgroun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W–Madison logo with white text on a black backgroun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/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851888" y="3218871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5733906"/>
            <a:ext cx="12192000" cy="11240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851889" y="3519488"/>
            <a:ext cx="8334246" cy="701877"/>
          </a:xfrm>
        </p:spPr>
        <p:txBody>
          <a:bodyPr anchor="t"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subtitle, date or other important information, not to exceed two lines </a:t>
            </a:r>
            <a:endParaRPr lang="en-US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851889" y="5953913"/>
            <a:ext cx="10311412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1888" y="905690"/>
            <a:ext cx="8334246" cy="2106570"/>
          </a:xfrm>
        </p:spPr>
        <p:txBody>
          <a:bodyPr rIns="91440">
            <a:normAutofit/>
          </a:bodyPr>
          <a:lstStyle>
            <a:lvl1pPr>
              <a:defRPr sz="4200" b="1" i="0">
                <a:solidFill>
                  <a:schemeClr val="tx1">
                    <a:lumMod val="90000"/>
                    <a:lumOff val="10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Insert slide title in title or sentence case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57339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851888" y="905690"/>
            <a:ext cx="8334246" cy="2106570"/>
          </a:xfrm>
        </p:spPr>
        <p:txBody>
          <a:bodyPr rIns="91440">
            <a:normAutofit/>
          </a:bodyPr>
          <a:lstStyle>
            <a:lvl1pPr>
              <a:defRPr sz="4200" b="1" i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Insert slide title in title or sentence case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851888" y="3218871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851889" y="3519488"/>
            <a:ext cx="8334246" cy="701877"/>
          </a:xfrm>
        </p:spPr>
        <p:txBody>
          <a:bodyPr anchor="t"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subtitle, date or other important information, not to exceed two lines </a:t>
            </a:r>
            <a:endParaRPr lang="en-US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851889" y="5953913"/>
            <a:ext cx="10311412" cy="5230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1506200" y="9797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63459" y="232022"/>
            <a:ext cx="456122" cy="716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rIns="91440">
            <a:normAutofit/>
          </a:bodyPr>
          <a:lstStyle>
            <a:lvl1pPr>
              <a:defRPr sz="3400" b="1" i="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 in title or sentence case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495300" y="1625704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1485900" y="1840447"/>
            <a:ext cx="9677400" cy="4446053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98293"/>
            <a:ext cx="6697346" cy="352084"/>
          </a:xfrm>
          <a:solidFill>
            <a:schemeClr val="accent1"/>
          </a:solidFill>
          <a:ln>
            <a:noFill/>
          </a:ln>
        </p:spPr>
        <p:txBody>
          <a:bodyPr wrap="none" lIns="274320" tIns="64008" rIns="18288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rIns="91440">
            <a:normAutofit/>
          </a:bodyPr>
          <a:lstStyle>
            <a:lvl1pPr>
              <a:defRPr sz="3400" b="1" i="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 in title or sentence case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495300" y="1625704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1485900" y="1840447"/>
            <a:ext cx="4482548" cy="4446053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98293"/>
            <a:ext cx="6697346" cy="352084"/>
          </a:xfrm>
          <a:solidFill>
            <a:schemeClr val="accent1"/>
          </a:solidFill>
          <a:ln>
            <a:noFill/>
          </a:ln>
        </p:spPr>
        <p:txBody>
          <a:bodyPr wrap="none" lIns="274320" tIns="64008" rIns="182880" bIns="91440" anchor="ctr" anchorCtr="0">
            <a:sp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Insert presentation topic or department/unit name (text box will expand to fit)</a:t>
            </a:r>
            <a:endParaRPr lang="en-US" dirty="0"/>
          </a:p>
        </p:txBody>
      </p:sp>
      <p:sp>
        <p:nvSpPr>
          <p:cNvPr id="8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6223554" y="1840447"/>
            <a:ext cx="4939746" cy="4446053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  <a:p>
            <a:pPr lvl="0"/>
            <a:r>
              <a:rPr lang="en-US" dirty="0"/>
              <a:t>Bulleted list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1024128"/>
            <a:ext cx="11163300" cy="5825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4226928"/>
            <a:ext cx="5264150" cy="354459"/>
          </a:xfrm>
        </p:spPr>
        <p:txBody>
          <a:bodyPr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Insert subtitle if needed</a:t>
            </a:r>
            <a:endParaRPr lang="en-US" dirty="0"/>
          </a:p>
        </p:txBody>
      </p:sp>
      <p:sp>
        <p:nvSpPr>
          <p:cNvPr id="13" name="Freeform 12"/>
          <p:cNvSpPr/>
          <p:nvPr userDrawn="1"/>
        </p:nvSpPr>
        <p:spPr>
          <a:xfrm>
            <a:off x="8714232" y="1024128"/>
            <a:ext cx="2449068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1485900" y="4007404"/>
            <a:ext cx="471523" cy="940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85900" y="2514600"/>
            <a:ext cx="8279202" cy="1367286"/>
          </a:xfrm>
        </p:spPr>
        <p:txBody>
          <a:bodyPr rIns="9144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234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1024128"/>
            <a:ext cx="11163300" cy="58338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4226928"/>
            <a:ext cx="5264150" cy="354459"/>
          </a:xfrm>
        </p:spPr>
        <p:txBody>
          <a:bodyPr>
            <a:noAutofit/>
          </a:bodyPr>
          <a:lstStyle>
            <a:lvl1pPr marL="0" indent="0">
              <a:buNone/>
              <a:defRPr sz="23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Insert subtitle if needed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1485900" y="4007404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 userDrawn="1"/>
        </p:nvSpPr>
        <p:spPr>
          <a:xfrm>
            <a:off x="8714232" y="1024128"/>
            <a:ext cx="2449068" cy="5833872"/>
          </a:xfrm>
          <a:custGeom>
            <a:avLst/>
            <a:gdLst>
              <a:gd name="connsiteX0" fmla="*/ 0 w 3290316"/>
              <a:gd name="connsiteY0" fmla="*/ 0 h 6193766"/>
              <a:gd name="connsiteX1" fmla="*/ 1490472 w 3290316"/>
              <a:gd name="connsiteY1" fmla="*/ 0 h 6193766"/>
              <a:gd name="connsiteX2" fmla="*/ 2980944 w 3290316"/>
              <a:gd name="connsiteY2" fmla="*/ 0 h 6193766"/>
              <a:gd name="connsiteX3" fmla="*/ 3290316 w 3290316"/>
              <a:gd name="connsiteY3" fmla="*/ 0 h 6193766"/>
              <a:gd name="connsiteX4" fmla="*/ 3290316 w 3290316"/>
              <a:gd name="connsiteY4" fmla="*/ 6185532 h 6193766"/>
              <a:gd name="connsiteX5" fmla="*/ 1492453 w 3290316"/>
              <a:gd name="connsiteY5" fmla="*/ 6185532 h 6193766"/>
              <a:gd name="connsiteX6" fmla="*/ 1490472 w 3290316"/>
              <a:gd name="connsiteY6" fmla="*/ 6193766 h 6193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316" h="6193766">
                <a:moveTo>
                  <a:pt x="0" y="0"/>
                </a:moveTo>
                <a:lnTo>
                  <a:pt x="1490472" y="0"/>
                </a:lnTo>
                <a:lnTo>
                  <a:pt x="2980944" y="0"/>
                </a:lnTo>
                <a:lnTo>
                  <a:pt x="3290316" y="0"/>
                </a:lnTo>
                <a:lnTo>
                  <a:pt x="3290316" y="6185532"/>
                </a:lnTo>
                <a:lnTo>
                  <a:pt x="1492453" y="6185532"/>
                </a:lnTo>
                <a:lnTo>
                  <a:pt x="1490472" y="6193766"/>
                </a:lnTo>
                <a:close/>
              </a:path>
            </a:pathLst>
          </a:custGeom>
          <a:solidFill>
            <a:schemeClr val="tx1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85900" y="2514600"/>
            <a:ext cx="8279202" cy="1367286"/>
          </a:xfrm>
        </p:spPr>
        <p:txBody>
          <a:bodyPr rIns="9144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300" y="457200"/>
            <a:ext cx="10668000" cy="1066800"/>
          </a:xfrm>
        </p:spPr>
        <p:txBody>
          <a:bodyPr>
            <a:normAutofit/>
          </a:bodyPr>
          <a:lstStyle>
            <a:lvl1pPr>
              <a:defRPr sz="3400"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 in title or sentence case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80753"/>
            <a:ext cx="10668000" cy="180753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-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W–Madison logo in white text on a red backgroun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80060"/>
            <a:ext cx="10668000" cy="170121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W–Madison logo with white text on a black backgroun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01325"/>
            <a:ext cx="10668000" cy="191386"/>
          </a:xfrm>
        </p:spPr>
        <p:txBody>
          <a:bodyPr>
            <a:normAutofit/>
          </a:bodyPr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3" name="Chart Placeholder 11"/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  <a:endParaRPr lang="en-US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E9BFB-0954-4323-8E38-E019FC9F00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1BF49-1733-470D-8D6C-31B8407A7E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457200"/>
            <a:ext cx="10668000" cy="1066800"/>
          </a:xfrm>
          <a:prstGeom prst="rect">
            <a:avLst/>
          </a:prstGeom>
        </p:spPr>
        <p:txBody>
          <a:bodyPr vert="horz" lIns="0" tIns="45720" rIns="0" bIns="0" rtlCol="0" anchor="b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900" y="1828799"/>
            <a:ext cx="9677400" cy="445770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05057"/>
            <a:ext cx="1060586" cy="344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64008" rIns="91440" bIns="64008" rtlCol="0" anchor="ctr">
            <a:spAutoFit/>
          </a:bodyPr>
          <a:lstStyle>
            <a:lvl1pPr algn="ctr"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red crest logo&#10;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6530" indent="-17653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922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430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2155" indent="-17335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457200"/>
            <a:ext cx="10668000" cy="1066800"/>
          </a:xfrm>
          <a:prstGeom prst="rect">
            <a:avLst/>
          </a:prstGeom>
        </p:spPr>
        <p:txBody>
          <a:bodyPr vert="horz" lIns="0" tIns="45720" rIns="0" bIns="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900" y="1828799"/>
            <a:ext cx="9677400" cy="445770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05057"/>
            <a:ext cx="1060586" cy="3447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64008" rIns="91440" bIns="64008" rtlCol="0" anchor="ctr">
            <a:spAutoFit/>
          </a:bodyPr>
          <a:lstStyle>
            <a:lvl1pPr algn="ctr">
              <a:defRPr sz="1400" b="0" i="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1507059" y="0"/>
            <a:ext cx="570641" cy="1024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red crest logo&#10;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564318" y="222225"/>
            <a:ext cx="456122" cy="71676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176530" indent="-17653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350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092200" indent="-177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5430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02155" indent="-17335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3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1" Type="http://schemas.openxmlformats.org/officeDocument/2006/relationships/slideLayout" Target="../slideLayouts/slideLayout30.xml"/><Relationship Id="rId30" Type="http://schemas.openxmlformats.org/officeDocument/2006/relationships/image" Target="../media/image40.png"/><Relationship Id="rId3" Type="http://schemas.openxmlformats.org/officeDocument/2006/relationships/image" Target="../media/image13.png"/><Relationship Id="rId29" Type="http://schemas.openxmlformats.org/officeDocument/2006/relationships/image" Target="../media/image39.png"/><Relationship Id="rId28" Type="http://schemas.openxmlformats.org/officeDocument/2006/relationships/image" Target="../media/image38.png"/><Relationship Id="rId27" Type="http://schemas.openxmlformats.org/officeDocument/2006/relationships/image" Target="../media/image37.png"/><Relationship Id="rId26" Type="http://schemas.openxmlformats.org/officeDocument/2006/relationships/image" Target="../media/image36.png"/><Relationship Id="rId25" Type="http://schemas.openxmlformats.org/officeDocument/2006/relationships/image" Target="../media/image35.png"/><Relationship Id="rId24" Type="http://schemas.openxmlformats.org/officeDocument/2006/relationships/image" Target="../media/image34.png"/><Relationship Id="rId23" Type="http://schemas.openxmlformats.org/officeDocument/2006/relationships/image" Target="../media/image33.png"/><Relationship Id="rId22" Type="http://schemas.openxmlformats.org/officeDocument/2006/relationships/image" Target="../media/image32.png"/><Relationship Id="rId21" Type="http://schemas.openxmlformats.org/officeDocument/2006/relationships/image" Target="../media/image31.png"/><Relationship Id="rId20" Type="http://schemas.openxmlformats.org/officeDocument/2006/relationships/image" Target="../media/image30.png"/><Relationship Id="rId2" Type="http://schemas.openxmlformats.org/officeDocument/2006/relationships/image" Target="../media/image12.png"/><Relationship Id="rId19" Type="http://schemas.openxmlformats.org/officeDocument/2006/relationships/image" Target="../media/image29.png"/><Relationship Id="rId18" Type="http://schemas.openxmlformats.org/officeDocument/2006/relationships/image" Target="../media/image28.png"/><Relationship Id="rId17" Type="http://schemas.openxmlformats.org/officeDocument/2006/relationships/image" Target="../media/image27.png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21005" y="663575"/>
            <a:ext cx="9644380" cy="1952625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/>
              <a:t>Optimal USA Gymnastics Lineup: Simulation for 2024 Olympics</a:t>
            </a:r>
            <a:endParaRPr lang="en-US" altLang="zh-CN" sz="4400"/>
          </a:p>
        </p:txBody>
      </p:sp>
      <p:sp>
        <p:nvSpPr>
          <p:cNvPr id="2" name="Text Placeholder 3"/>
          <p:cNvSpPr>
            <a:spLocks noGrp="1"/>
          </p:cNvSpPr>
          <p:nvPr/>
        </p:nvSpPr>
        <p:spPr>
          <a:xfrm>
            <a:off x="9505950" y="6034405"/>
            <a:ext cx="1816735" cy="381635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50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922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02155" indent="-17335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</a:rPr>
              <a:t>Jiapeng Wang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347470" y="3367405"/>
            <a:ext cx="7493000" cy="2730500"/>
          </a:xfrm>
        </p:spPr>
        <p:txBody>
          <a:bodyPr>
            <a:normAutofit lnSpcReduction="10000"/>
          </a:bodyPr>
          <a:p>
            <a:pPr marL="342900" indent="-342900" algn="l"/>
            <a:r>
              <a:rPr lang="en-US" altLang="zh-CN" sz="3200">
                <a:solidFill>
                  <a:schemeClr val="bg2"/>
                </a:solidFill>
              </a:rPr>
              <a:t>Background</a:t>
            </a:r>
            <a:endParaRPr lang="en-US" altLang="zh-CN" sz="3200">
              <a:solidFill>
                <a:schemeClr val="bg2"/>
              </a:solidFill>
            </a:endParaRPr>
          </a:p>
          <a:p>
            <a:pPr marL="342900" indent="-342900" algn="l"/>
            <a:r>
              <a:rPr lang="en-US" altLang="zh-CN" sz="3200">
                <a:solidFill>
                  <a:schemeClr val="bg2"/>
                </a:solidFill>
              </a:rPr>
              <a:t>Modeling Approach</a:t>
            </a:r>
            <a:endParaRPr lang="en-US" altLang="zh-CN" sz="3200">
              <a:solidFill>
                <a:schemeClr val="bg2"/>
              </a:solidFill>
            </a:endParaRPr>
          </a:p>
          <a:p>
            <a:pPr marL="342900" indent="-342900" algn="l"/>
            <a:r>
              <a:rPr lang="en-US" altLang="zh-CN" sz="3200">
                <a:solidFill>
                  <a:schemeClr val="bg2"/>
                </a:solidFill>
              </a:rPr>
              <a:t>Simulation Process</a:t>
            </a:r>
            <a:endParaRPr lang="en-US" altLang="zh-CN" sz="3200">
              <a:solidFill>
                <a:schemeClr val="bg2"/>
              </a:solidFill>
            </a:endParaRPr>
          </a:p>
          <a:p>
            <a:pPr marL="342900" indent="-342900" algn="l"/>
            <a:r>
              <a:rPr lang="en-US" altLang="zh-CN" sz="3200">
                <a:solidFill>
                  <a:schemeClr val="bg2"/>
                </a:solidFill>
              </a:rPr>
              <a:t>Results &amp; Analysis</a:t>
            </a:r>
            <a:endParaRPr lang="en-US" altLang="zh-CN" sz="3200">
              <a:solidFill>
                <a:schemeClr val="bg2"/>
              </a:solidFill>
            </a:endParaRPr>
          </a:p>
          <a:p>
            <a:pPr marL="342900" indent="-342900" algn="l"/>
            <a:r>
              <a:rPr lang="en-US" altLang="zh-CN" sz="3200">
                <a:solidFill>
                  <a:schemeClr val="bg2"/>
                </a:solidFill>
              </a:rPr>
              <a:t>Future Outlook</a:t>
            </a:r>
            <a:endParaRPr lang="en-US" altLang="zh-CN" sz="320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/>
          <p:cNvSpPr>
            <a:spLocks noGrp="1"/>
          </p:cNvSpPr>
          <p:nvPr/>
        </p:nvSpPr>
        <p:spPr>
          <a:xfrm>
            <a:off x="537210" y="255905"/>
            <a:ext cx="10668000" cy="495300"/>
          </a:xfrm>
          <a:prstGeom prst="rect">
            <a:avLst/>
          </a:prstGeom>
        </p:spPr>
        <p:txBody>
          <a:bodyPr vert="horz" lIns="0" tIns="45720" rIns="91440" bIns="0" rtlCol="0" anchor="b" anchorCtr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34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50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922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02155" indent="-17335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Background: Project Overview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>
          <a:xfrm>
            <a:off x="0" y="6534785"/>
            <a:ext cx="3131820" cy="323215"/>
          </a:xfrm>
        </p:spPr>
        <p:txBody>
          <a:bodyPr>
            <a:normAutofit/>
          </a:bodyPr>
          <a:p>
            <a:pPr algn="ctr"/>
            <a:r>
              <a:rPr lang="en-US" altLang="zh-CN" sz="1200" dirty="0">
                <a:sym typeface="+mn-ea"/>
              </a:rPr>
              <a:t>Background</a:t>
            </a:r>
            <a:endParaRPr lang="en-US" altLang="zh-CN" sz="1200" dirty="0">
              <a:sym typeface="+mn-ea"/>
            </a:endParaRPr>
          </a:p>
        </p:txBody>
      </p:sp>
      <p:sp>
        <p:nvSpPr>
          <p:cNvPr id="41" name="Rectangle 42"/>
          <p:cNvSpPr/>
          <p:nvPr>
            <p:custDataLst>
              <p:tags r:id="rId1"/>
            </p:custDataLst>
          </p:nvPr>
        </p:nvSpPr>
        <p:spPr>
          <a:xfrm>
            <a:off x="622300" y="1234440"/>
            <a:ext cx="5022850" cy="1744345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42" name="TextBox 34"/>
          <p:cNvSpPr txBox="1"/>
          <p:nvPr>
            <p:custDataLst>
              <p:tags r:id="rId2"/>
            </p:custDataLst>
          </p:nvPr>
        </p:nvSpPr>
        <p:spPr>
          <a:xfrm>
            <a:off x="898525" y="1335405"/>
            <a:ext cx="460375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Objective:</a:t>
            </a:r>
            <a:endParaRPr kumimoji="0" lang="en-US" altLang="zh-CN" sz="2000" b="1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60095" y="1767840"/>
            <a:ext cx="4884420" cy="101473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/>
              <a:t>Select the optimal USA lineup for the 2024 Women's Gymnastics Olympic Games to maximize the medal performance.</a:t>
            </a:r>
            <a:endParaRPr lang="en-US" altLang="zh-CN" sz="2000"/>
          </a:p>
        </p:txBody>
      </p:sp>
      <p:sp>
        <p:nvSpPr>
          <p:cNvPr id="44" name="Rectangle 42"/>
          <p:cNvSpPr/>
          <p:nvPr>
            <p:custDataLst>
              <p:tags r:id="rId3"/>
            </p:custDataLst>
          </p:nvPr>
        </p:nvSpPr>
        <p:spPr>
          <a:xfrm>
            <a:off x="622300" y="3324225"/>
            <a:ext cx="5022850" cy="2735580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45" name="TextBox 34"/>
          <p:cNvSpPr txBox="1"/>
          <p:nvPr>
            <p:custDataLst>
              <p:tags r:id="rId4"/>
            </p:custDataLst>
          </p:nvPr>
        </p:nvSpPr>
        <p:spPr>
          <a:xfrm>
            <a:off x="898525" y="3425825"/>
            <a:ext cx="460375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Dataset Overview:</a:t>
            </a:r>
            <a:endParaRPr kumimoji="0" lang="en-US" altLang="zh-CN" sz="2000" b="1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60095" y="3824605"/>
            <a:ext cx="4742815" cy="204152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Tokyo 2021 Olympic Results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2022-2023 International Competition Results Including 40+ major competitions, such as:</a:t>
            </a:r>
            <a:endParaRPr lang="en-US" altLang="zh-CN" sz="2000"/>
          </a:p>
          <a:p>
            <a:pPr indent="457200">
              <a:buNone/>
            </a:pPr>
            <a:r>
              <a:rPr lang="en-US" altLang="zh-CN" sz="2000"/>
              <a:t>World Championships (2022, 2023)</a:t>
            </a:r>
            <a:endParaRPr lang="en-US" altLang="zh-CN" sz="2000"/>
          </a:p>
          <a:p>
            <a:pPr indent="457200">
              <a:buNone/>
            </a:pPr>
            <a:r>
              <a:rPr lang="en-US" altLang="zh-CN" sz="2000"/>
              <a:t>European Championships (2022, 2023)</a:t>
            </a:r>
            <a:endParaRPr lang="en-US" altLang="zh-CN" sz="2000"/>
          </a:p>
        </p:txBody>
      </p:sp>
      <p:sp>
        <p:nvSpPr>
          <p:cNvPr id="47" name="Rectangle 42"/>
          <p:cNvSpPr/>
          <p:nvPr>
            <p:custDataLst>
              <p:tags r:id="rId5"/>
            </p:custDataLst>
          </p:nvPr>
        </p:nvSpPr>
        <p:spPr>
          <a:xfrm>
            <a:off x="5918835" y="1234440"/>
            <a:ext cx="5286375" cy="4825365"/>
          </a:xfrm>
          <a:prstGeom prst="rect">
            <a:avLst/>
          </a:prstGeom>
          <a:noFill/>
          <a:ln w="19050"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49" name="TextBox 34"/>
          <p:cNvSpPr txBox="1"/>
          <p:nvPr>
            <p:custDataLst>
              <p:tags r:id="rId6"/>
            </p:custDataLst>
          </p:nvPr>
        </p:nvSpPr>
        <p:spPr>
          <a:xfrm>
            <a:off x="6334125" y="1335405"/>
            <a:ext cx="460375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Approach:</a:t>
            </a:r>
            <a:endParaRPr kumimoji="0" lang="en-US" altLang="zh-CN" sz="2000" b="1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194425" y="1767840"/>
            <a:ext cx="4744720" cy="401955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Build a performance prediction model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Predict each gymnast's score distribution  based on historical data.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Fix the lineups of 11 other countries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Simulate all possible USA lineups (2000 simulations per lineup)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Run the full team competition and individual events.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Calculate each lineup's average medal count.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Select the optimal lineup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Prioritize gold medals, then silver, then bronze.</a:t>
            </a:r>
            <a:endParaRPr lang="en-US" altLang="zh-CN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/>
          <p:cNvSpPr>
            <a:spLocks noGrp="1"/>
          </p:cNvSpPr>
          <p:nvPr/>
        </p:nvSpPr>
        <p:spPr>
          <a:xfrm>
            <a:off x="457200" y="260350"/>
            <a:ext cx="10873105" cy="495300"/>
          </a:xfrm>
          <a:prstGeom prst="rect">
            <a:avLst/>
          </a:prstGeom>
        </p:spPr>
        <p:txBody>
          <a:bodyPr vert="horz" lIns="0" tIns="45720" rIns="91440" bIns="0" rtlCol="0" anchor="b" anchorCtr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34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50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922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02155" indent="-17335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Background: Paris 2024 Gymnastics Competition Format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>
          <a:xfrm>
            <a:off x="0" y="6534785"/>
            <a:ext cx="3131820" cy="323215"/>
          </a:xfrm>
        </p:spPr>
        <p:txBody>
          <a:bodyPr>
            <a:normAutofit/>
          </a:bodyPr>
          <a:p>
            <a:pPr algn="ctr"/>
            <a:r>
              <a:rPr lang="en-US" altLang="zh-CN" sz="1200" dirty="0">
                <a:sym typeface="+mn-ea"/>
              </a:rPr>
              <a:t>Background</a:t>
            </a:r>
            <a:endParaRPr lang="en-US" altLang="zh-CN" sz="12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2300" y="943610"/>
            <a:ext cx="5080000" cy="208788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endParaRPr lang="en-US" altLang="zh-CN" sz="1600"/>
          </a:p>
        </p:txBody>
      </p:sp>
      <p:sp>
        <p:nvSpPr>
          <p:cNvPr id="3" name="文本框 2"/>
          <p:cNvSpPr txBox="1"/>
          <p:nvPr/>
        </p:nvSpPr>
        <p:spPr>
          <a:xfrm>
            <a:off x="6036310" y="1382395"/>
            <a:ext cx="5293995" cy="132207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/>
              <a:buNone/>
            </a:pPr>
            <a:r>
              <a:rPr lang="en-US" altLang="zh-CN" sz="2000" b="1"/>
              <a:t>Team Final ("533")</a:t>
            </a:r>
            <a:endParaRPr lang="en-US" altLang="zh-CN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Top 8 teams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3 gymnasts per apparatus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All 3 scores count</a:t>
            </a:r>
            <a:endParaRPr lang="en-US" altLang="zh-CN" sz="2000"/>
          </a:p>
        </p:txBody>
      </p:sp>
      <p:sp>
        <p:nvSpPr>
          <p:cNvPr id="5" name="文本框 4"/>
          <p:cNvSpPr txBox="1"/>
          <p:nvPr/>
        </p:nvSpPr>
        <p:spPr>
          <a:xfrm>
            <a:off x="6036310" y="2886710"/>
            <a:ext cx="4739640" cy="146939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None/>
            </a:pPr>
            <a:r>
              <a:rPr lang="en-US" altLang="zh-CN" sz="2000" b="1"/>
              <a:t>Individual All-Around Final</a:t>
            </a:r>
            <a:endParaRPr lang="en-US" altLang="zh-CN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Top 24 gymnasts (max 2 per country)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Compete on all 4 apparatuses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Total score determines ranking</a:t>
            </a:r>
            <a:endParaRPr lang="en-US" altLang="zh-CN" sz="2000"/>
          </a:p>
          <a:p>
            <a:pPr indent="0">
              <a:buNone/>
            </a:pPr>
            <a:endParaRPr lang="en-US" altLang="zh-CN" sz="2000"/>
          </a:p>
        </p:txBody>
      </p:sp>
      <p:sp>
        <p:nvSpPr>
          <p:cNvPr id="7" name="文本框 6"/>
          <p:cNvSpPr txBox="1"/>
          <p:nvPr/>
        </p:nvSpPr>
        <p:spPr>
          <a:xfrm>
            <a:off x="6036310" y="4300220"/>
            <a:ext cx="5353685" cy="193802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Arial" panose="020B0604020202020204"/>
              <a:buNone/>
            </a:pPr>
            <a:r>
              <a:rPr lang="en-US" altLang="zh-CN" sz="2000" b="1"/>
              <a:t>Apparatus Finals</a:t>
            </a:r>
            <a:endParaRPr lang="en-US" altLang="zh-CN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Top 8 gymnasts per apparatus (max 2 per country)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Score on each apparatus(VT, UB, BB, and FX) determines ranking</a:t>
            </a:r>
            <a:endParaRPr lang="en-US" altLang="zh-CN" sz="2000"/>
          </a:p>
          <a:p>
            <a:pPr indent="0">
              <a:buFont typeface="Arial" panose="020B0604020202020204"/>
              <a:buNone/>
            </a:pPr>
            <a:endParaRPr lang="en-US" altLang="zh-CN" sz="2000"/>
          </a:p>
        </p:txBody>
      </p:sp>
      <p:sp>
        <p:nvSpPr>
          <p:cNvPr id="8" name="文本框 7"/>
          <p:cNvSpPr txBox="1"/>
          <p:nvPr/>
        </p:nvSpPr>
        <p:spPr>
          <a:xfrm>
            <a:off x="706120" y="2400300"/>
            <a:ext cx="4126230" cy="269303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zh-CN" sz="2000" b="1"/>
              <a:t>Qualification Round ("543")</a:t>
            </a:r>
            <a:endParaRPr lang="en-US" altLang="zh-CN" sz="2000" b="1"/>
          </a:p>
          <a:p>
            <a:pPr indent="0">
              <a:buFont typeface="Arial" panose="020B0604020202020204"/>
              <a:buNone/>
            </a:pPr>
            <a:endParaRPr lang="en-US" altLang="zh-CN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5 gymnasts per team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4 compete on each apparatus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Top 3 scores count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Goal: Qualify for team, all-around, and apparatus finals</a:t>
            </a:r>
            <a:endParaRPr lang="en-US" altLang="zh-CN" sz="2000"/>
          </a:p>
          <a:p>
            <a:pPr indent="0">
              <a:buFont typeface="Arial" panose="020B0604020202020204"/>
              <a:buNone/>
            </a:pPr>
            <a:endParaRPr lang="en-US" altLang="zh-CN" sz="2000"/>
          </a:p>
        </p:txBody>
      </p:sp>
      <p:grpSp>
        <p:nvGrpSpPr>
          <p:cNvPr id="11" name="组合 10"/>
          <p:cNvGrpSpPr/>
          <p:nvPr/>
        </p:nvGrpSpPr>
        <p:grpSpPr>
          <a:xfrm>
            <a:off x="5166360" y="1132205"/>
            <a:ext cx="535940" cy="5402580"/>
            <a:chOff x="8558" y="1447"/>
            <a:chExt cx="844" cy="884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8980" y="1447"/>
              <a:ext cx="0" cy="8844"/>
            </a:xfrm>
            <a:prstGeom prst="line">
              <a:avLst/>
            </a:prstGeom>
            <a:ln w="57150" cap="rnd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0"/>
              </a:gradFill>
              <a:prstDash val="sysDot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" name="Arrow: Chevron 55"/>
            <p:cNvSpPr/>
            <p:nvPr/>
          </p:nvSpPr>
          <p:spPr>
            <a:xfrm>
              <a:off x="8558" y="4864"/>
              <a:ext cx="844" cy="1073"/>
            </a:xfrm>
            <a:prstGeom prst="chevron">
              <a:avLst/>
            </a:prstGeom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/>
          <p:cNvSpPr>
            <a:spLocks noGrp="1"/>
          </p:cNvSpPr>
          <p:nvPr/>
        </p:nvSpPr>
        <p:spPr>
          <a:xfrm>
            <a:off x="547370" y="265430"/>
            <a:ext cx="10668000" cy="495300"/>
          </a:xfrm>
          <a:prstGeom prst="rect">
            <a:avLst/>
          </a:prstGeom>
        </p:spPr>
        <p:txBody>
          <a:bodyPr vert="horz" lIns="0" tIns="45720" rIns="91440" bIns="0" rtlCol="0" anchor="b" anchorCtr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34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50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922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02155" indent="-17335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Modeling Approach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>
          <a:xfrm>
            <a:off x="0" y="6534785"/>
            <a:ext cx="3131820" cy="323215"/>
          </a:xfrm>
        </p:spPr>
        <p:txBody>
          <a:bodyPr>
            <a:normAutofit/>
          </a:bodyPr>
          <a:p>
            <a:pPr algn="ctr"/>
            <a:r>
              <a:rPr lang="en-US" altLang="zh-CN" sz="1200" dirty="0">
                <a:sym typeface="+mn-ea"/>
              </a:rPr>
              <a:t>Modeling Approach</a:t>
            </a:r>
            <a:endParaRPr lang="en-US" altLang="zh-CN" sz="1200" dirty="0">
              <a:sym typeface="+mn-ea"/>
            </a:endParaRPr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6295390" y="2869565"/>
            <a:ext cx="4620895" cy="33115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05" y="918210"/>
            <a:ext cx="9036050" cy="150304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8205470" y="829945"/>
            <a:ext cx="1574165" cy="1759585"/>
          </a:xfrm>
          <a:prstGeom prst="roundRect">
            <a:avLst/>
          </a:prstGeom>
          <a:ln>
            <a:solidFill>
              <a:schemeClr val="accent4">
                <a:lumMod val="75000"/>
              </a:schemeClr>
            </a:solidFill>
            <a:prstDash val="sysDot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509385" y="829945"/>
            <a:ext cx="1696085" cy="1759585"/>
          </a:xfrm>
          <a:prstGeom prst="roundRect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75" y="4610100"/>
            <a:ext cx="6127115" cy="86804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547370" y="2938780"/>
            <a:ext cx="2500630" cy="138620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/>
              <a:t>Feature Engineering</a:t>
            </a:r>
            <a:endParaRPr lang="en-US" altLang="zh-CN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Target Encoding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One-hot Encoding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Standardization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endParaRPr lang="en-US" altLang="zh-CN" sz="2000"/>
          </a:p>
        </p:txBody>
      </p:sp>
      <p:sp>
        <p:nvSpPr>
          <p:cNvPr id="23" name="圆角矩形 22"/>
          <p:cNvSpPr/>
          <p:nvPr/>
        </p:nvSpPr>
        <p:spPr>
          <a:xfrm>
            <a:off x="1369060" y="829945"/>
            <a:ext cx="3089910" cy="1759585"/>
          </a:xfrm>
          <a:prstGeom prst="roundRect">
            <a:avLst/>
          </a:prstGeom>
          <a:ln>
            <a:solidFill>
              <a:srgbClr val="92D050"/>
            </a:solidFill>
            <a:prstDash val="sysDot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458970" y="812165"/>
            <a:ext cx="579120" cy="1711960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087370" y="2938780"/>
            <a:ext cx="26162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 b="1">
                <a:sym typeface="+mn-ea"/>
              </a:rPr>
              <a:t>Models</a:t>
            </a:r>
            <a:endParaRPr lang="en-US" altLang="zh-CN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ym typeface="+mn-ea"/>
              </a:rPr>
              <a:t>Linear Regression </a:t>
            </a:r>
            <a:endParaRPr lang="en-US" altLang="zh-CN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ym typeface="+mn-ea"/>
              </a:rPr>
              <a:t>Random Forest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>
                <a:sym typeface="+mn-ea"/>
              </a:rPr>
              <a:t>Baseline Model</a:t>
            </a:r>
            <a:endParaRPr lang="en-US" altLang="zh-CN" sz="2000"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88315" y="4610100"/>
            <a:ext cx="1739265" cy="318770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/>
          <p:cNvSpPr>
            <a:spLocks noGrp="1"/>
          </p:cNvSpPr>
          <p:nvPr/>
        </p:nvSpPr>
        <p:spPr>
          <a:xfrm>
            <a:off x="547370" y="265430"/>
            <a:ext cx="10668000" cy="495300"/>
          </a:xfrm>
          <a:prstGeom prst="rect">
            <a:avLst/>
          </a:prstGeom>
        </p:spPr>
        <p:txBody>
          <a:bodyPr vert="horz" lIns="0" tIns="45720" rIns="91440" bIns="0" rtlCol="0" anchor="b" anchorCtr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34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50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922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02155" indent="-17335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Simulation Process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>
          <a:xfrm>
            <a:off x="0" y="6488430"/>
            <a:ext cx="3131820" cy="323215"/>
          </a:xfrm>
        </p:spPr>
        <p:txBody>
          <a:bodyPr>
            <a:normAutofit/>
          </a:bodyPr>
          <a:p>
            <a:pPr algn="ctr"/>
            <a:r>
              <a:rPr lang="en-US" altLang="zh-CN" sz="1200" dirty="0">
                <a:sym typeface="+mn-ea"/>
              </a:rPr>
              <a:t>Simulation Process</a:t>
            </a:r>
            <a:endParaRPr lang="en-US" altLang="zh-CN" sz="12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792" r="2363"/>
          <a:stretch>
            <a:fillRect/>
          </a:stretch>
        </p:blipFill>
        <p:spPr>
          <a:xfrm>
            <a:off x="220345" y="3942715"/>
            <a:ext cx="11514455" cy="16173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4810" y="963295"/>
            <a:ext cx="3519170" cy="239395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zh-CN" b="1">
                <a:sym typeface="+mn-ea"/>
              </a:rPr>
              <a:t>Step 1: Fix Lineups of 11 Countries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Select top 5 gymnasts from each country based on historical average performance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Fixed lineups: GBR, CAN, BRA, FRA, JPN, NED, ITA, AUS, ROU, KOR, CHN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903980" y="963295"/>
            <a:ext cx="3100705" cy="261620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zh-CN" b="1">
                <a:sym typeface="+mn-ea"/>
              </a:rPr>
              <a:t>Step 2: Predict Performance</a:t>
            </a:r>
            <a:endParaRPr lang="en-US" altLang="zh-CN" b="1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Predict scores for all U.S. gymnasts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Predict scores for each gymnast in the fixed lineups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Add random noise to mimic real competition uncertainty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004050" y="963295"/>
            <a:ext cx="5017135" cy="3124835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zh-CN" b="1">
                <a:sym typeface="+mn-ea"/>
              </a:rPr>
              <a:t>Step 3: USA Lineup Simulation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Enumerate all possible USA lineups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Simulate from qualification round (543 rule) to: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Team Final (533 rule)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Individual All-Around Final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Event Finals (</a:t>
            </a:r>
            <a:r>
              <a:rPr lang="en-US" altLang="zh-CN">
                <a:sym typeface="+mn-ea"/>
              </a:rPr>
              <a:t>VT, UB, BB, and FX</a:t>
            </a:r>
            <a:r>
              <a:rPr lang="en-US" altLang="zh-CN"/>
              <a:t>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Run 2000 simulations per lineup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Prioritize gold count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600"/>
              <a:t>(Use noise-free predicted scores to determine which athletes compete in team events.)</a:t>
            </a:r>
            <a:endParaRPr lang="en-US" altLang="zh-CN" sz="1600"/>
          </a:p>
        </p:txBody>
      </p:sp>
      <p:sp>
        <p:nvSpPr>
          <p:cNvPr id="10" name="文本框 9"/>
          <p:cNvSpPr txBox="1"/>
          <p:nvPr/>
        </p:nvSpPr>
        <p:spPr>
          <a:xfrm>
            <a:off x="614045" y="5636260"/>
            <a:ext cx="10726420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/>
              <a:t>USA Lineup for 2024 Paris Olympics: </a:t>
            </a:r>
            <a:r>
              <a:rPr lang="en-US" altLang="zh-CN" sz="2000"/>
              <a:t>Simone Biles; Sunisa Lee; Jade Carey; Jordan Chiles; </a:t>
            </a:r>
            <a:r>
              <a:rPr lang="en-US" altLang="zh-CN" sz="2000" u="sng"/>
              <a:t>Hezly Rivera</a:t>
            </a:r>
            <a:endParaRPr lang="en-US" altLang="zh-CN" sz="2000" u="sng"/>
          </a:p>
          <a:p>
            <a:r>
              <a:rPr lang="en-US" altLang="zh-CN" sz="2000" b="1"/>
              <a:t>Traveling Replacement Alternates:</a:t>
            </a:r>
            <a:r>
              <a:rPr lang="en-US" altLang="zh-CN" sz="2000"/>
              <a:t> Joscelyn Roberson; Leanne Wong</a:t>
            </a:r>
            <a:endParaRPr lang="en-US" altLang="zh-CN" sz="2000"/>
          </a:p>
        </p:txBody>
      </p:sp>
      <p:sp>
        <p:nvSpPr>
          <p:cNvPr id="11" name="文本框 10"/>
          <p:cNvSpPr txBox="1"/>
          <p:nvPr/>
        </p:nvSpPr>
        <p:spPr>
          <a:xfrm>
            <a:off x="220345" y="3574415"/>
            <a:ext cx="386651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b="1"/>
              <a:t>Simulation Result:</a:t>
            </a:r>
            <a:endParaRPr lang="en-US" altLang="zh-CN" sz="2000" b="1"/>
          </a:p>
        </p:txBody>
      </p:sp>
      <p:sp>
        <p:nvSpPr>
          <p:cNvPr id="12" name="矩形 11"/>
          <p:cNvSpPr/>
          <p:nvPr/>
        </p:nvSpPr>
        <p:spPr>
          <a:xfrm>
            <a:off x="5397500" y="4437380"/>
            <a:ext cx="1083945" cy="206375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170680" y="4378325"/>
            <a:ext cx="1132205" cy="265430"/>
          </a:xfrm>
          <a:prstGeom prst="rect">
            <a:avLst/>
          </a:prstGeom>
          <a:solidFill>
            <a:srgbClr val="00B0F0">
              <a:alpha val="33000"/>
            </a:srgb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131820" y="4377055"/>
            <a:ext cx="954405" cy="265430"/>
          </a:xfrm>
          <a:prstGeom prst="rect">
            <a:avLst/>
          </a:prstGeom>
          <a:solidFill>
            <a:srgbClr val="00B0F0">
              <a:alpha val="33000"/>
            </a:srgb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148840" y="4377690"/>
            <a:ext cx="898525" cy="265430"/>
          </a:xfrm>
          <a:prstGeom prst="rect">
            <a:avLst/>
          </a:prstGeom>
          <a:solidFill>
            <a:srgbClr val="00B0F0">
              <a:alpha val="33000"/>
            </a:srgb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11555" y="4377055"/>
            <a:ext cx="1052830" cy="265430"/>
          </a:xfrm>
          <a:prstGeom prst="rect">
            <a:avLst/>
          </a:prstGeom>
          <a:solidFill>
            <a:srgbClr val="00B0F0">
              <a:alpha val="33000"/>
            </a:srgb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/>
          <p:cNvSpPr>
            <a:spLocks noGrp="1"/>
          </p:cNvSpPr>
          <p:nvPr/>
        </p:nvSpPr>
        <p:spPr>
          <a:xfrm>
            <a:off x="547370" y="265430"/>
            <a:ext cx="10668000" cy="495300"/>
          </a:xfrm>
          <a:prstGeom prst="rect">
            <a:avLst/>
          </a:prstGeom>
        </p:spPr>
        <p:txBody>
          <a:bodyPr vert="horz" lIns="0" tIns="45720" rIns="91440" bIns="0" rtlCol="0" anchor="b" anchorCtr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34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50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922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02155" indent="-17335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Results &amp; Analysis</a:t>
            </a:r>
            <a:endParaRPr lang="en-US" altLang="zh-CN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>
          <a:xfrm>
            <a:off x="0" y="6534785"/>
            <a:ext cx="3131820" cy="323215"/>
          </a:xfrm>
        </p:spPr>
        <p:txBody>
          <a:bodyPr>
            <a:normAutofit/>
          </a:bodyPr>
          <a:p>
            <a:pPr algn="ctr"/>
            <a:r>
              <a:rPr lang="en-US" altLang="zh-CN" sz="1200" dirty="0">
                <a:sym typeface="+mn-ea"/>
              </a:rPr>
              <a:t>Results &amp; Analysis</a:t>
            </a:r>
            <a:endParaRPr lang="en-US" altLang="zh-CN" sz="1200" dirty="0">
              <a:sym typeface="+mn-ea"/>
            </a:endParaRPr>
          </a:p>
          <a:p>
            <a:pPr algn="ctr"/>
            <a:endParaRPr lang="en-US" altLang="zh-CN" sz="1200" dirty="0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47370" y="820420"/>
            <a:ext cx="41135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>
                <a:sym typeface="+mn-ea"/>
              </a:rPr>
              <a:t>Overall Performance</a:t>
            </a:r>
            <a:endParaRPr lang="en-US" altLang="zh-CN" sz="2000">
              <a:sym typeface="+mn-ea"/>
            </a:endParaRPr>
          </a:p>
        </p:txBody>
      </p:sp>
      <p:sp>
        <p:nvSpPr>
          <p:cNvPr id="29" name="Rectangle 64"/>
          <p:cNvSpPr/>
          <p:nvPr>
            <p:custDataLst>
              <p:tags r:id="rId1"/>
            </p:custDataLst>
          </p:nvPr>
        </p:nvSpPr>
        <p:spPr>
          <a:xfrm>
            <a:off x="6149975" y="645795"/>
            <a:ext cx="131445" cy="5982970"/>
          </a:xfrm>
          <a:prstGeom prst="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15430" y="816610"/>
            <a:ext cx="41135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>
                <a:sym typeface="+mn-ea"/>
              </a:rPr>
              <a:t>Event-Specific Performance</a:t>
            </a:r>
            <a:endParaRPr lang="en-US" altLang="zh-CN" sz="2000">
              <a:sym typeface="+mn-ea"/>
            </a:endParaRPr>
          </a:p>
        </p:txBody>
      </p:sp>
      <p:pic>
        <p:nvPicPr>
          <p:cNvPr id="22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750" y="1215390"/>
            <a:ext cx="5788025" cy="5319395"/>
          </a:xfrm>
          <a:prstGeom prst="rect">
            <a:avLst/>
          </a:prstGeom>
        </p:spPr>
      </p:pic>
      <p:pic>
        <p:nvPicPr>
          <p:cNvPr id="24" name="图片 23"/>
          <p:cNvPicPr/>
          <p:nvPr/>
        </p:nvPicPr>
        <p:blipFill>
          <a:blip r:embed="rId3"/>
          <a:stretch>
            <a:fillRect/>
          </a:stretch>
        </p:blipFill>
        <p:spPr>
          <a:xfrm>
            <a:off x="6484620" y="1271270"/>
            <a:ext cx="5479415" cy="4645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: Rounded Corners 20"/>
          <p:cNvSpPr/>
          <p:nvPr/>
        </p:nvSpPr>
        <p:spPr>
          <a:xfrm>
            <a:off x="137795" y="1289685"/>
            <a:ext cx="5700395" cy="5205730"/>
          </a:xfrm>
          <a:prstGeom prst="roundRect">
            <a:avLst>
              <a:gd name="adj" fmla="val 0"/>
            </a:avLst>
          </a:prstGeom>
          <a:solidFill>
            <a:srgbClr val="EEEEEE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3" name="Rectangle: Rounded Corners 20"/>
          <p:cNvSpPr/>
          <p:nvPr/>
        </p:nvSpPr>
        <p:spPr>
          <a:xfrm>
            <a:off x="6318885" y="1289050"/>
            <a:ext cx="5253990" cy="5206365"/>
          </a:xfrm>
          <a:prstGeom prst="roundRect">
            <a:avLst>
              <a:gd name="adj" fmla="val 0"/>
            </a:avLst>
          </a:prstGeom>
          <a:solidFill>
            <a:srgbClr val="EEEEEE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6" name="Text Placeholder 1"/>
          <p:cNvSpPr>
            <a:spLocks noGrp="1"/>
          </p:cNvSpPr>
          <p:nvPr/>
        </p:nvSpPr>
        <p:spPr>
          <a:xfrm>
            <a:off x="622300" y="247015"/>
            <a:ext cx="10668000" cy="495300"/>
          </a:xfrm>
          <a:prstGeom prst="rect">
            <a:avLst/>
          </a:prstGeom>
        </p:spPr>
        <p:txBody>
          <a:bodyPr vert="horz" lIns="0" tIns="45720" rIns="91440" bIns="0" rtlCol="0" anchor="b" anchorCtr="0">
            <a:normAutofit fontScale="9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3400" b="1" i="0" kern="1200">
                <a:solidFill>
                  <a:schemeClr val="tx1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350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922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02155" indent="-17335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/>
            <a:r>
              <a:rPr lang="en-US" altLang="zh-CN" dirty="0">
                <a:solidFill>
                  <a:schemeClr val="tx1"/>
                </a:solidFill>
                <a:sym typeface="+mn-ea"/>
              </a:rPr>
              <a:t>Future Outlook: Potential Improvements &amp; Applications</a:t>
            </a:r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7845" y="4500245"/>
            <a:ext cx="4631055" cy="367665"/>
          </a:xfrm>
          <a:prstGeom prst="rect">
            <a:avLst/>
          </a:prstGeom>
        </p:spPr>
        <p:txBody>
          <a:bodyPr wrap="square">
            <a:noAutofit/>
          </a:bodyPr>
          <a:p>
            <a:endParaRPr lang="en-US" altLang="zh-CN" sz="2000"/>
          </a:p>
        </p:txBody>
      </p:sp>
      <p:sp>
        <p:nvSpPr>
          <p:cNvPr id="29" name="Rectangle 64"/>
          <p:cNvSpPr/>
          <p:nvPr>
            <p:custDataLst>
              <p:tags r:id="rId1"/>
            </p:custDataLst>
          </p:nvPr>
        </p:nvSpPr>
        <p:spPr>
          <a:xfrm>
            <a:off x="6017895" y="889635"/>
            <a:ext cx="121920" cy="5645785"/>
          </a:xfrm>
          <a:prstGeom prst="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1140" y="702310"/>
            <a:ext cx="5534025" cy="5307965"/>
          </a:xfrm>
          <a:prstGeom prst="rect">
            <a:avLst/>
          </a:prstGeom>
        </p:spPr>
        <p:txBody>
          <a:bodyPr>
            <a:noAutofit/>
          </a:bodyPr>
          <a:p>
            <a:pPr marL="0" lvl="1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1" dirty="0">
                <a:sym typeface="+mn-ea"/>
              </a:rPr>
              <a:t>Potential Improvements</a:t>
            </a:r>
            <a:endParaRPr lang="en-US" altLang="zh-CN" sz="2000" b="1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0" lvl="1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Tokyo 2021 Data Integration</a:t>
            </a:r>
            <a:endParaRPr lang="en-US" altLang="zh-CN" sz="2000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285750" lvl="1" indent="-2857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Attempted to merge Tokyo 2021 data with the 2022-2023 dataset. However, this led to decreased model accuracy, requiring further refinement.</a:t>
            </a:r>
            <a:endParaRPr lang="en-US" altLang="zh-CN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0" lvl="1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Refined Handling of Scores</a:t>
            </a:r>
            <a:endParaRPr lang="en-US" altLang="zh-CN" sz="2000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285750" lvl="1" indent="-2857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Consider separating D-score, E-score, and Penalty for more precise analysis.</a:t>
            </a:r>
            <a:endParaRPr lang="en-US" altLang="zh-CN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0" lvl="1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Data Gaps for Emerging Talents</a:t>
            </a:r>
            <a:endParaRPr lang="en-US" altLang="zh-CN" sz="2000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285750" lvl="1" indent="-2857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The dataset only covers up to 2023, missing rising stars for the 2024 Paris Olympics. Additional data collection is needed to improve prediction accuracy.</a:t>
            </a:r>
            <a:endParaRPr lang="en-US" altLang="zh-CN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285750" lvl="1" indent="-2857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285750" lvl="1" indent="-2857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.</a:t>
            </a:r>
            <a:endParaRPr lang="en-US" altLang="zh-CN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0" lvl="1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0" lvl="1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>
          <a:xfrm>
            <a:off x="0" y="6534785"/>
            <a:ext cx="3131820" cy="323215"/>
          </a:xfrm>
        </p:spPr>
        <p:txBody>
          <a:bodyPr/>
          <a:p>
            <a:pPr algn="ctr"/>
            <a:r>
              <a:rPr lang="en-US" altLang="zh-CN" sz="1200" dirty="0">
                <a:sym typeface="+mn-ea"/>
              </a:rPr>
              <a:t>Future Outlook</a:t>
            </a:r>
            <a:endParaRPr lang="en-US" altLang="zh-CN" sz="12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83350" y="742315"/>
            <a:ext cx="5089525" cy="5793105"/>
          </a:xfrm>
          <a:prstGeom prst="rect">
            <a:avLst/>
          </a:prstGeom>
        </p:spPr>
        <p:txBody>
          <a:bodyPr>
            <a:noAutofit/>
          </a:bodyPr>
          <a:p>
            <a:pPr marL="0" lvl="1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1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Applications</a:t>
            </a:r>
            <a:endParaRPr lang="en-US" altLang="zh-CN" sz="2000" b="1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0" lvl="1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Broad Predictive Scope</a:t>
            </a:r>
            <a:endParaRPr lang="en-US" altLang="zh-CN" sz="2000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285750" lvl="1" indent="-2857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The model can be extended beyond U.S. women's gymnastics at the Paris Olympics to predict performance across different countries, genders, and competitions.</a:t>
            </a:r>
            <a:endParaRPr lang="en-US" altLang="zh-CN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0" lvl="1"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000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Comprehensive Performance Analysis</a:t>
            </a:r>
            <a:endParaRPr lang="en-US" altLang="zh-CN" sz="2000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  <a:p>
            <a:pPr marL="285750" lvl="1" indent="-28575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404040"/>
                </a:solidFill>
                <a:latin typeface="Calibri" panose="020F0502020204030204" charset="0"/>
                <a:ea typeface="Inter"/>
                <a:cs typeface="Calibri" panose="020F0502020204030204" charset="0"/>
              </a:rPr>
              <a:t>Simulates optimal athlete selection for each event and identifies national strengths in specific apparatus. Also projects potential medal outcomes, especially gold medals.</a:t>
            </a:r>
            <a:endParaRPr lang="en-US" altLang="zh-CN" b="0" i="0">
              <a:solidFill>
                <a:srgbClr val="404040"/>
              </a:solidFill>
              <a:latin typeface="Calibri" panose="020F0502020204030204" charset="0"/>
              <a:ea typeface="Inter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38985" y="2390140"/>
            <a:ext cx="6913245" cy="207835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ym typeface="+mn-ea"/>
              </a:rPr>
              <a:t>Thank you</a:t>
            </a:r>
            <a:br>
              <a:rPr lang="en-US" dirty="0">
                <a:sym typeface="+mn-ea"/>
              </a:rPr>
            </a:b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Q&amp;A</a:t>
            </a:r>
            <a:endParaRPr lang="en-US" dirty="0"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38985" y="2973705"/>
            <a:ext cx="6913245" cy="90995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ym typeface="+mn-ea"/>
              </a:rPr>
              <a:t>Backup</a:t>
            </a:r>
            <a:endParaRPr lang="en-US" dirty="0"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>
          <a:xfrm>
            <a:off x="0" y="6534785"/>
            <a:ext cx="3131820" cy="323215"/>
          </a:xfrm>
        </p:spPr>
        <p:txBody>
          <a:bodyPr/>
          <a:p>
            <a:pPr algn="ctr"/>
            <a:endParaRPr lang="en-US" altLang="zh-CN" sz="1200" dirty="0">
              <a:sym typeface="+mn-ea"/>
            </a:endParaRPr>
          </a:p>
          <a:p>
            <a:pPr algn="ctr"/>
            <a:endParaRPr lang="en-US" altLang="zh-CN" sz="1200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0" y="437515"/>
            <a:ext cx="5035550" cy="56819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7488" y="312267"/>
            <a:ext cx="5141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Note: Only use red icons on white or light gray backgrounds</a:t>
            </a:r>
            <a:endParaRPr lang="en-US" sz="1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pic>
        <p:nvPicPr>
          <p:cNvPr id="3" name="Picture 2" descr="Wisconsin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488" y="759757"/>
            <a:ext cx="911412" cy="911412"/>
          </a:xfrm>
          <a:prstGeom prst="rect">
            <a:avLst/>
          </a:prstGeom>
        </p:spPr>
      </p:pic>
      <p:pic>
        <p:nvPicPr>
          <p:cNvPr id="4" name="Picture 3" descr="ice cream con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078" y="759757"/>
            <a:ext cx="911412" cy="911412"/>
          </a:xfrm>
          <a:prstGeom prst="rect">
            <a:avLst/>
          </a:prstGeom>
        </p:spPr>
      </p:pic>
      <p:pic>
        <p:nvPicPr>
          <p:cNvPr id="5" name="Picture 4" descr="c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343" y="759757"/>
            <a:ext cx="911412" cy="911412"/>
          </a:xfrm>
          <a:prstGeom prst="rect">
            <a:avLst/>
          </a:prstGeom>
        </p:spPr>
      </p:pic>
      <p:pic>
        <p:nvPicPr>
          <p:cNvPr id="6" name="Picture 5" descr="institu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895" y="759757"/>
            <a:ext cx="911412" cy="911412"/>
          </a:xfrm>
          <a:prstGeom prst="rect">
            <a:avLst/>
          </a:prstGeom>
        </p:spPr>
      </p:pic>
      <p:pic>
        <p:nvPicPr>
          <p:cNvPr id="7" name="Picture 6" descr="state capito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287" y="759757"/>
            <a:ext cx="911412" cy="911412"/>
          </a:xfrm>
          <a:prstGeom prst="rect">
            <a:avLst/>
          </a:prstGeom>
        </p:spPr>
      </p:pic>
      <p:pic>
        <p:nvPicPr>
          <p:cNvPr id="8" name="Picture 7" descr="building colum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6819" y="759757"/>
            <a:ext cx="911412" cy="911412"/>
          </a:xfrm>
          <a:prstGeom prst="rect">
            <a:avLst/>
          </a:prstGeom>
        </p:spPr>
      </p:pic>
      <p:pic>
        <p:nvPicPr>
          <p:cNvPr id="9" name="Picture 8" descr="group of peopl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488" y="1947577"/>
            <a:ext cx="911412" cy="911412"/>
          </a:xfrm>
          <a:prstGeom prst="rect">
            <a:avLst/>
          </a:prstGeom>
        </p:spPr>
      </p:pic>
      <p:pic>
        <p:nvPicPr>
          <p:cNvPr id="10" name="Picture 9" descr="word bubbl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4078" y="1947577"/>
            <a:ext cx="911412" cy="911412"/>
          </a:xfrm>
          <a:prstGeom prst="rect">
            <a:avLst/>
          </a:prstGeom>
        </p:spPr>
      </p:pic>
      <p:pic>
        <p:nvPicPr>
          <p:cNvPr id="11" name="Picture 10" descr="single person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6343" y="1947577"/>
            <a:ext cx="911412" cy="911412"/>
          </a:xfrm>
          <a:prstGeom prst="rect">
            <a:avLst/>
          </a:prstGeom>
        </p:spPr>
      </p:pic>
      <p:pic>
        <p:nvPicPr>
          <p:cNvPr id="12" name="Picture 11" descr="brain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895" y="1947577"/>
            <a:ext cx="911412" cy="911412"/>
          </a:xfrm>
          <a:prstGeom prst="rect">
            <a:avLst/>
          </a:prstGeom>
        </p:spPr>
      </p:pic>
      <p:pic>
        <p:nvPicPr>
          <p:cNvPr id="13" name="Picture 12" descr="graduation cap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2287" y="1947577"/>
            <a:ext cx="911412" cy="911412"/>
          </a:xfrm>
          <a:prstGeom prst="rect">
            <a:avLst/>
          </a:prstGeom>
        </p:spPr>
      </p:pic>
      <p:pic>
        <p:nvPicPr>
          <p:cNvPr id="14" name="Picture 13" descr="globe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6819" y="1947577"/>
            <a:ext cx="911412" cy="911412"/>
          </a:xfrm>
          <a:prstGeom prst="rect">
            <a:avLst/>
          </a:prstGeom>
        </p:spPr>
      </p:pic>
      <p:pic>
        <p:nvPicPr>
          <p:cNvPr id="15" name="Picture 14" descr="computer monitor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488" y="3221675"/>
            <a:ext cx="911412" cy="911412"/>
          </a:xfrm>
          <a:prstGeom prst="rect">
            <a:avLst/>
          </a:prstGeom>
        </p:spPr>
      </p:pic>
      <p:pic>
        <p:nvPicPr>
          <p:cNvPr id="16" name="Picture 15" descr="smart phone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84078" y="3221675"/>
            <a:ext cx="911412" cy="911412"/>
          </a:xfrm>
          <a:prstGeom prst="rect">
            <a:avLst/>
          </a:prstGeom>
        </p:spPr>
      </p:pic>
      <p:pic>
        <p:nvPicPr>
          <p:cNvPr id="17" name="Picture 16" descr="book 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16343" y="3221675"/>
            <a:ext cx="911412" cy="911412"/>
          </a:xfrm>
          <a:prstGeom prst="rect">
            <a:avLst/>
          </a:prstGeom>
        </p:spPr>
      </p:pic>
      <p:pic>
        <p:nvPicPr>
          <p:cNvPr id="18" name="Picture 17" descr="pencil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895" y="3221675"/>
            <a:ext cx="911412" cy="911412"/>
          </a:xfrm>
          <a:prstGeom prst="rect">
            <a:avLst/>
          </a:prstGeom>
        </p:spPr>
      </p:pic>
      <p:pic>
        <p:nvPicPr>
          <p:cNvPr id="19" name="Picture 18" descr="notebook 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2287" y="3221675"/>
            <a:ext cx="911412" cy="911412"/>
          </a:xfrm>
          <a:prstGeom prst="rect">
            <a:avLst/>
          </a:prstGeom>
        </p:spPr>
      </p:pic>
      <p:pic>
        <p:nvPicPr>
          <p:cNvPr id="20" name="Picture 19" descr="document 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76819" y="3221675"/>
            <a:ext cx="911412" cy="911412"/>
          </a:xfrm>
          <a:prstGeom prst="rect">
            <a:avLst/>
          </a:prstGeom>
        </p:spPr>
      </p:pic>
      <p:pic>
        <p:nvPicPr>
          <p:cNvPr id="21" name="Picture 20" descr="magnifying glass 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7488" y="4535752"/>
            <a:ext cx="911412" cy="911412"/>
          </a:xfrm>
          <a:prstGeom prst="rect">
            <a:avLst/>
          </a:prstGeom>
        </p:spPr>
      </p:pic>
      <p:pic>
        <p:nvPicPr>
          <p:cNvPr id="22" name="Picture 21" descr="calendar 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84078" y="4535752"/>
            <a:ext cx="911412" cy="911412"/>
          </a:xfrm>
          <a:prstGeom prst="rect">
            <a:avLst/>
          </a:prstGeom>
        </p:spPr>
      </p:pic>
      <p:pic>
        <p:nvPicPr>
          <p:cNvPr id="23" name="Picture 22" descr="rising arrow chart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16343" y="4535752"/>
            <a:ext cx="911412" cy="911412"/>
          </a:xfrm>
          <a:prstGeom prst="rect">
            <a:avLst/>
          </a:prstGeom>
        </p:spPr>
      </p:pic>
      <p:pic>
        <p:nvPicPr>
          <p:cNvPr id="24" name="Picture 23" descr="money 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895" y="4535752"/>
            <a:ext cx="911412" cy="911412"/>
          </a:xfrm>
          <a:prstGeom prst="rect">
            <a:avLst/>
          </a:prstGeom>
        </p:spPr>
      </p:pic>
      <p:pic>
        <p:nvPicPr>
          <p:cNvPr id="25" name="Picture 24" descr="check box ic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72287" y="4535752"/>
            <a:ext cx="911412" cy="911412"/>
          </a:xfrm>
          <a:prstGeom prst="rect">
            <a:avLst/>
          </a:prstGeom>
        </p:spPr>
      </p:pic>
      <p:pic>
        <p:nvPicPr>
          <p:cNvPr id="26" name="Picture 25" descr="target icon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76819" y="4535752"/>
            <a:ext cx="911412" cy="911412"/>
          </a:xfrm>
          <a:prstGeom prst="rect">
            <a:avLst/>
          </a:prstGeom>
        </p:spPr>
      </p:pic>
      <p:pic>
        <p:nvPicPr>
          <p:cNvPr id="27" name="Picture 26" descr="medical cross ico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7488" y="5729196"/>
            <a:ext cx="911412" cy="911412"/>
          </a:xfrm>
          <a:prstGeom prst="rect">
            <a:avLst/>
          </a:prstGeom>
        </p:spPr>
      </p:pic>
      <p:pic>
        <p:nvPicPr>
          <p:cNvPr id="28" name="Picture 27" descr="lightbulb icon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84078" y="5729196"/>
            <a:ext cx="911412" cy="911412"/>
          </a:xfrm>
          <a:prstGeom prst="rect">
            <a:avLst/>
          </a:prstGeom>
        </p:spPr>
      </p:pic>
      <p:pic>
        <p:nvPicPr>
          <p:cNvPr id="29" name="Picture 28" descr="bicycle icon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16343" y="5729196"/>
            <a:ext cx="911412" cy="911412"/>
          </a:xfrm>
          <a:prstGeom prst="rect">
            <a:avLst/>
          </a:prstGeom>
        </p:spPr>
      </p:pic>
      <p:pic>
        <p:nvPicPr>
          <p:cNvPr id="30" name="Picture 29" descr="map pin icon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38895" y="5729196"/>
            <a:ext cx="911412" cy="911412"/>
          </a:xfrm>
          <a:prstGeom prst="rect">
            <a:avLst/>
          </a:prstGeom>
        </p:spPr>
      </p:pic>
      <p:pic>
        <p:nvPicPr>
          <p:cNvPr id="31" name="Picture 30" descr="microscope icon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72287" y="5729196"/>
            <a:ext cx="911412" cy="911412"/>
          </a:xfrm>
          <a:prstGeom prst="rect">
            <a:avLst/>
          </a:prstGeom>
        </p:spPr>
      </p:pic>
      <p:pic>
        <p:nvPicPr>
          <p:cNvPr id="32" name="Picture 31" descr="recycling icon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76819" y="5729196"/>
            <a:ext cx="911412" cy="911412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433.28259842519685,&quot;left&quot;:19.77566929133858,&quot;top&quot;:72.808031496063,&quot;width&quot;:928.9940157480314}"/>
</p:tagLst>
</file>

<file path=ppt/tags/tag2.xml><?xml version="1.0" encoding="utf-8"?>
<p:tagLst xmlns:p="http://schemas.openxmlformats.org/presentationml/2006/main">
  <p:tag name="KSO_WM_DIAGRAM_VIRTUALLY_FRAME" val="{&quot;height&quot;:433.28259842519685,&quot;left&quot;:19.77566929133858,&quot;top&quot;:72.808031496063,&quot;width&quot;:928.9940157480314}"/>
</p:tagLst>
</file>

<file path=ppt/tags/tag3.xml><?xml version="1.0" encoding="utf-8"?>
<p:tagLst xmlns:p="http://schemas.openxmlformats.org/presentationml/2006/main">
  <p:tag name="KSO_WM_DIAGRAM_VIRTUALLY_FRAME" val="{&quot;height&quot;:433.28259842519685,&quot;left&quot;:19.77566929133858,&quot;top&quot;:72.808031496063,&quot;width&quot;:928.9940157480314}"/>
</p:tagLst>
</file>

<file path=ppt/tags/tag4.xml><?xml version="1.0" encoding="utf-8"?>
<p:tagLst xmlns:p="http://schemas.openxmlformats.org/presentationml/2006/main">
  <p:tag name="KSO_WM_DIAGRAM_VIRTUALLY_FRAME" val="{&quot;height&quot;:433.28259842519685,&quot;left&quot;:19.77566929133858,&quot;top&quot;:72.808031496063,&quot;width&quot;:928.9940157480314}"/>
</p:tagLst>
</file>

<file path=ppt/tags/tag5.xml><?xml version="1.0" encoding="utf-8"?>
<p:tagLst xmlns:p="http://schemas.openxmlformats.org/presentationml/2006/main">
  <p:tag name="KSO_WM_DIAGRAM_VIRTUALLY_FRAME" val="{&quot;height&quot;:433.28259842519685,&quot;left&quot;:19.77566929133858,&quot;top&quot;:72.808031496063,&quot;width&quot;:928.9940157480314}"/>
</p:tagLst>
</file>

<file path=ppt/tags/tag6.xml><?xml version="1.0" encoding="utf-8"?>
<p:tagLst xmlns:p="http://schemas.openxmlformats.org/presentationml/2006/main">
  <p:tag name="KSO_WM_DIAGRAM_VIRTUALLY_FRAME" val="{&quot;height&quot;:433.28259842519685,&quot;left&quot;:19.77566929133858,&quot;top&quot;:72.808031496063,&quot;width&quot;:928.9940157480314}"/>
</p:tagLst>
</file>

<file path=ppt/tags/tag7.xml><?xml version="1.0" encoding="utf-8"?>
<p:tagLst xmlns:p="http://schemas.openxmlformats.org/presentationml/2006/main">
  <p:tag name="KSO_WM_DIAGRAM_VIRTUALLY_FRAME" val="{&quot;height&quot;:433.28259842519685,&quot;left&quot;:19.77566929133858,&quot;top&quot;:72.808031496063,&quot;width&quot;:928.9940157480314}"/>
</p:tagLst>
</file>

<file path=ppt/tags/tag8.xml><?xml version="1.0" encoding="utf-8"?>
<p:tagLst xmlns:p="http://schemas.openxmlformats.org/presentationml/2006/main">
  <p:tag name="KSO_WM_DIAGRAM_VIRTUALLY_FRAME" val="{&quot;height&quot;:433.28259842519685,&quot;left&quot;:19.77566929133858,&quot;top&quot;:72.808031496063,&quot;width&quot;:928.9940157480314}"/>
</p:tagLst>
</file>

<file path=ppt/tags/tag9.xml><?xml version="1.0" encoding="utf-8"?>
<p:tagLst xmlns:p="http://schemas.openxmlformats.org/presentationml/2006/main">
  <p:tag name="commondata" val="eyJoZGlkIjoiNDI3ZWFlNjNkYjFiNjk3OTdlMzJmYTU1ODFkYzM1YW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UW-Madison theme1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C5050C"/>
      </a:accent2>
      <a:accent3>
        <a:srgbClr val="9B0000"/>
      </a:accent3>
      <a:accent4>
        <a:srgbClr val="FCCB51"/>
      </a:accent4>
      <a:accent5>
        <a:srgbClr val="80B3AE"/>
      </a:accent5>
      <a:accent6>
        <a:srgbClr val="ADADAD"/>
      </a:accent6>
      <a:hlink>
        <a:srgbClr val="0479A8"/>
      </a:hlink>
      <a:folHlink>
        <a:srgbClr val="0479A8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UW-Madison theme1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C5050C"/>
      </a:accent2>
      <a:accent3>
        <a:srgbClr val="9B0000"/>
      </a:accent3>
      <a:accent4>
        <a:srgbClr val="FCCB51"/>
      </a:accent4>
      <a:accent5>
        <a:srgbClr val="80B3AE"/>
      </a:accent5>
      <a:accent6>
        <a:srgbClr val="ADADAD"/>
      </a:accent6>
      <a:hlink>
        <a:srgbClr val="0479A8"/>
      </a:hlink>
      <a:folHlink>
        <a:srgbClr val="0479A8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3560</Words>
  <Application>WPS 演示</Application>
  <PresentationFormat>Widescreen</PresentationFormat>
  <Paragraphs>147</Paragraphs>
  <Slides>11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Red Hat Text</vt:lpstr>
      <vt:lpstr>Yu Gothic UI Light</vt:lpstr>
      <vt:lpstr>Red Hat Display</vt:lpstr>
      <vt:lpstr>Arial</vt:lpstr>
      <vt:lpstr>Calibri</vt:lpstr>
      <vt:lpstr>Inter</vt:lpstr>
      <vt:lpstr>Segoe Print</vt:lpstr>
      <vt:lpstr>微软雅黑</vt:lpstr>
      <vt:lpstr>Arial Unicode MS</vt:lpstr>
      <vt:lpstr>等线 Light</vt:lpstr>
      <vt:lpstr>等线</vt:lpstr>
      <vt:lpstr>Office 主题​​</vt:lpstr>
      <vt:lpstr>1_Office 主题​​</vt:lpstr>
      <vt:lpstr>Office Theme</vt:lpstr>
      <vt:lpstr>Optimal USA Gymnastics Lineup: Simulation for 2024 Olympics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 Q&amp;A</vt:lpstr>
      <vt:lpstr>Backup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Zhanpeng Xu</dc:creator>
  <cp:lastModifiedBy>。。。</cp:lastModifiedBy>
  <cp:revision>129</cp:revision>
  <dcterms:created xsi:type="dcterms:W3CDTF">2024-09-12T02:50:00Z</dcterms:created>
  <dcterms:modified xsi:type="dcterms:W3CDTF">2025-03-16T17:46:43Z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DCED5C46A6914F908E779DD19324FD42_12</vt:lpwstr>
  </property>
  <property fmtid="{D5CDD505-2E9C-101B-9397-08002B2CF9AE}" pid="3" name="KSOProductBuildVer">
    <vt:lpwstr>2052-12.1.0.20305</vt:lpwstr>
  </property>
</Properties>
</file>